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968e66cd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968e66cd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968e66cd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968e66cd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968e66cd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968e66cd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68e66cd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968e66cd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968e66cd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968e66cd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968e66cd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968e66cd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968e66cd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968e66cd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tlassian.com/project-management/templates#project-initiatio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</a:t>
            </a:r>
            <a:r>
              <a:rPr lang="pt-BR"/>
              <a:t>ência de Projetos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05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85875" y="2744125"/>
            <a:ext cx="208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Evandro J.R. Silva</a:t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>
                <a:solidFill>
                  <a:schemeClr val="dk2"/>
                </a:solidFill>
              </a:rPr>
              <a:t>Planejamento de projetos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E</a:t>
            </a:r>
            <a:r>
              <a:rPr lang="pt-BR">
                <a:solidFill>
                  <a:schemeClr val="dk2"/>
                </a:solidFill>
              </a:rPr>
              <a:t>stabelece os </a:t>
            </a:r>
            <a:r>
              <a:rPr b="1" lang="pt-BR">
                <a:solidFill>
                  <a:schemeClr val="dk2"/>
                </a:solidFill>
              </a:rPr>
              <a:t>recursos disponı́veis</a:t>
            </a:r>
            <a:r>
              <a:rPr lang="pt-BR">
                <a:solidFill>
                  <a:schemeClr val="dk2"/>
                </a:solidFill>
              </a:rPr>
              <a:t> para o projeto, a </a:t>
            </a:r>
            <a:r>
              <a:rPr b="1" lang="pt-BR">
                <a:solidFill>
                  <a:schemeClr val="dk2"/>
                </a:solidFill>
              </a:rPr>
              <a:t>divisão de trabalho</a:t>
            </a:r>
            <a:r>
              <a:rPr lang="pt-BR">
                <a:solidFill>
                  <a:schemeClr val="dk2"/>
                </a:solidFill>
              </a:rPr>
              <a:t> e um </a:t>
            </a:r>
            <a:r>
              <a:rPr b="1" lang="pt-BR">
                <a:solidFill>
                  <a:schemeClr val="dk2"/>
                </a:solidFill>
              </a:rPr>
              <a:t>cronograma</a:t>
            </a:r>
            <a:r>
              <a:rPr lang="pt-BR">
                <a:solidFill>
                  <a:schemeClr val="dk2"/>
                </a:solidFill>
              </a:rPr>
              <a:t> para executar o trabalho.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 </a:t>
            </a:r>
            <a:r>
              <a:rPr b="1" lang="pt-BR">
                <a:solidFill>
                  <a:schemeClr val="dk2"/>
                </a:solidFill>
              </a:rPr>
              <a:t>Identifica</a:t>
            </a:r>
            <a:r>
              <a:rPr lang="pt-BR">
                <a:solidFill>
                  <a:schemeClr val="dk2"/>
                </a:solidFill>
              </a:rPr>
              <a:t> a </a:t>
            </a:r>
            <a:r>
              <a:rPr b="1" lang="pt-BR">
                <a:solidFill>
                  <a:schemeClr val="dk2"/>
                </a:solidFill>
              </a:rPr>
              <a:t>abordagem</a:t>
            </a:r>
            <a:r>
              <a:rPr lang="pt-BR">
                <a:solidFill>
                  <a:schemeClr val="dk2"/>
                </a:solidFill>
              </a:rPr>
              <a:t> adotada para o </a:t>
            </a:r>
            <a:r>
              <a:rPr b="1" lang="pt-BR">
                <a:solidFill>
                  <a:schemeClr val="dk2"/>
                </a:solidFill>
              </a:rPr>
              <a:t>gerenciamento de risco</a:t>
            </a:r>
            <a:r>
              <a:rPr lang="pt-BR">
                <a:solidFill>
                  <a:schemeClr val="dk2"/>
                </a:solidFill>
              </a:rPr>
              <a:t>, bem como os </a:t>
            </a:r>
            <a:r>
              <a:rPr b="1" lang="pt-BR">
                <a:solidFill>
                  <a:schemeClr val="dk2"/>
                </a:solidFill>
              </a:rPr>
              <a:t>riscos para o projeto</a:t>
            </a:r>
            <a:r>
              <a:rPr lang="pt-BR">
                <a:solidFill>
                  <a:schemeClr val="dk2"/>
                </a:solidFill>
              </a:rPr>
              <a:t> e o </a:t>
            </a:r>
            <a:r>
              <a:rPr b="1" lang="pt-BR">
                <a:solidFill>
                  <a:schemeClr val="dk2"/>
                </a:solidFill>
              </a:rPr>
              <a:t>software</a:t>
            </a:r>
            <a:r>
              <a:rPr lang="pt-BR">
                <a:solidFill>
                  <a:schemeClr val="dk2"/>
                </a:solidFill>
              </a:rPr>
              <a:t> em desenvolvimento.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>
                <a:solidFill>
                  <a:schemeClr val="dk2"/>
                </a:solidFill>
              </a:rPr>
              <a:t>Dois tipos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pt-BR">
                <a:solidFill>
                  <a:schemeClr val="dk2"/>
                </a:solidFill>
              </a:rPr>
              <a:t>Desenvolvimento dirigido por plano</a:t>
            </a:r>
            <a:r>
              <a:rPr lang="pt-BR">
                <a:solidFill>
                  <a:schemeClr val="dk2"/>
                </a:solidFill>
              </a:rPr>
              <a:t>: para os métodos prescritivos.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pt-BR">
                <a:solidFill>
                  <a:schemeClr val="dk2"/>
                </a:solidFill>
              </a:rPr>
              <a:t>Planejamento ágil</a:t>
            </a:r>
            <a:r>
              <a:rPr lang="pt-BR">
                <a:solidFill>
                  <a:schemeClr val="dk2"/>
                </a:solidFill>
              </a:rPr>
              <a:t>: para os métodos ágeis.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264075" y="2826025"/>
            <a:ext cx="5165400" cy="283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90000" spcFirstLastPara="1" rIns="90000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994075" y="2736775"/>
            <a:ext cx="18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Vimos na Aula 04</a:t>
            </a:r>
            <a:endParaRPr sz="18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69" name="Google Shape;69;p14"/>
          <p:cNvCxnSpPr>
            <a:stCxn id="67" idx="3"/>
            <a:endCxn id="68" idx="1"/>
          </p:cNvCxnSpPr>
          <p:nvPr/>
        </p:nvCxnSpPr>
        <p:spPr>
          <a:xfrm>
            <a:off x="6429475" y="2967625"/>
            <a:ext cx="564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Planejamento </a:t>
            </a:r>
            <a:r>
              <a:rPr lang="pt-BR"/>
              <a:t>Ágil</a:t>
            </a:r>
            <a:endParaRPr/>
          </a:p>
        </p:txBody>
      </p:sp>
      <p:pic>
        <p:nvPicPr>
          <p:cNvPr descr="Head brain icon vector. Isolated contour symbol illustration (Fornecido por Getty Images)"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" y="1169950"/>
            <a:ext cx="3770276" cy="377027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3770275" y="1169950"/>
            <a:ext cx="5061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Os </a:t>
            </a: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métodos</a:t>
            </a: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desenvolvimento de software </a:t>
            </a: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ágeis</a:t>
            </a: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são </a:t>
            </a: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abordagens iterativas</a:t>
            </a: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nas quais </a:t>
            </a: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software é desenvolvido e entregue</a:t>
            </a: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aos clientes e</a:t>
            </a: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 incrementos</a:t>
            </a: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8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770275" y="3076242"/>
            <a:ext cx="5061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Ao contrário das abordagens dirigidas por plano, </a:t>
            </a: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funcionalidade desses incrementos não é planejada de antemão</a:t>
            </a: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mas decidida </a:t>
            </a: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durante o desenvolvimento</a:t>
            </a: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A decisão sobre o que incluir em um incremento depende do progresso e das prioridades do cliente.</a:t>
            </a:r>
            <a:endParaRPr sz="18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194825" y="1169950"/>
            <a:ext cx="138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Lembrando</a:t>
            </a:r>
            <a:endParaRPr sz="18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610925" y="2538750"/>
            <a:ext cx="138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MAS</a:t>
            </a:r>
            <a:endParaRPr sz="18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Planejamento </a:t>
            </a:r>
            <a:r>
              <a:rPr lang="pt-BR"/>
              <a:t>Ágil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>
                <a:solidFill>
                  <a:schemeClr val="dk2"/>
                </a:solidFill>
              </a:rPr>
              <a:t>Os métodos de desenvolvimento ágil têm uma abordagem de </a:t>
            </a:r>
            <a:r>
              <a:rPr b="1" lang="pt-BR">
                <a:solidFill>
                  <a:schemeClr val="dk2"/>
                </a:solidFill>
              </a:rPr>
              <a:t>dois estágios</a:t>
            </a:r>
            <a:r>
              <a:rPr lang="pt-BR">
                <a:solidFill>
                  <a:schemeClr val="dk2"/>
                </a:solidFill>
              </a:rPr>
              <a:t> para o planejamento, </a:t>
            </a:r>
            <a:r>
              <a:rPr b="1" lang="pt-BR">
                <a:solidFill>
                  <a:schemeClr val="dk2"/>
                </a:solidFill>
              </a:rPr>
              <a:t>que correspondem à fase inicial no desenvolvimento dirigido por plano e no planejamento de desenvolvimento</a:t>
            </a:r>
            <a:r>
              <a:rPr lang="pt-BR">
                <a:solidFill>
                  <a:schemeClr val="dk2"/>
                </a:solidFill>
              </a:rPr>
              <a:t>: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893575" y="2244775"/>
            <a:ext cx="7938600" cy="20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pt-BR">
                <a:solidFill>
                  <a:schemeClr val="dk2"/>
                </a:solidFill>
              </a:rPr>
              <a:t>Planejamento de lançamento</a:t>
            </a:r>
            <a:r>
              <a:rPr lang="pt-BR">
                <a:solidFill>
                  <a:schemeClr val="dk2"/>
                </a:solidFill>
              </a:rPr>
              <a:t>: que projeta vários meses à frente e decide sobre as características que devem ser incluídas em um lançamento do sistema.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pt-BR">
                <a:solidFill>
                  <a:schemeClr val="dk2"/>
                </a:solidFill>
              </a:rPr>
              <a:t>Planejamento da iteração</a:t>
            </a:r>
            <a:r>
              <a:rPr lang="pt-BR">
                <a:solidFill>
                  <a:schemeClr val="dk2"/>
                </a:solidFill>
              </a:rPr>
              <a:t>: que tem uma perspectiva de prazo mais curto e se concentra no planejamento do próximo incremento de um sistema. o que normalmente representa 2 a 4 semanas de trabalho para o time.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Planejamento </a:t>
            </a:r>
            <a:r>
              <a:rPr lang="pt-BR"/>
              <a:t>Ágil - Exemplos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</a:rPr>
              <a:t>SCRUM</a:t>
            </a:r>
            <a:endParaRPr b="1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Backlogs e revisões diárias → Planejamento da iteração.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</a:rPr>
              <a:t>Programação Extrema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Jogo do planejamento baseado nas histórias de usuário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11700" y="3196550"/>
            <a:ext cx="1365900" cy="755400"/>
          </a:xfrm>
          <a:prstGeom prst="roundRect">
            <a:avLst>
              <a:gd fmla="val 3750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Source Sans Pro"/>
                <a:ea typeface="Source Sans Pro"/>
                <a:cs typeface="Source Sans Pro"/>
                <a:sym typeface="Source Sans Pro"/>
              </a:rPr>
              <a:t>Identificação de histórias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2058600" y="3196800"/>
            <a:ext cx="1365900" cy="755400"/>
          </a:xfrm>
          <a:prstGeom prst="roundRect">
            <a:avLst>
              <a:gd fmla="val 3750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Source Sans Pro"/>
                <a:ea typeface="Source Sans Pro"/>
                <a:cs typeface="Source Sans Pro"/>
                <a:sym typeface="Source Sans Pro"/>
              </a:rPr>
              <a:t>Estimativa inicial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805500" y="3196550"/>
            <a:ext cx="1365900" cy="755400"/>
          </a:xfrm>
          <a:prstGeom prst="roundRect">
            <a:avLst>
              <a:gd fmla="val 3750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Source Sans Pro"/>
                <a:ea typeface="Source Sans Pro"/>
                <a:cs typeface="Source Sans Pro"/>
                <a:sym typeface="Source Sans Pro"/>
              </a:rPr>
              <a:t>Planejamento de lançamento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552400" y="3196550"/>
            <a:ext cx="1365900" cy="755400"/>
          </a:xfrm>
          <a:prstGeom prst="roundRect">
            <a:avLst>
              <a:gd fmla="val 3750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Source Sans Pro"/>
                <a:ea typeface="Source Sans Pro"/>
                <a:cs typeface="Source Sans Pro"/>
                <a:sym typeface="Source Sans Pro"/>
              </a:rPr>
              <a:t>Planejamento de iteraç</a:t>
            </a:r>
            <a:r>
              <a:rPr lang="pt-BR" sz="1200">
                <a:latin typeface="Source Sans Pro"/>
                <a:ea typeface="Source Sans Pro"/>
                <a:cs typeface="Source Sans Pro"/>
                <a:sym typeface="Source Sans Pro"/>
              </a:rPr>
              <a:t>ão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7299300" y="3196550"/>
            <a:ext cx="1365900" cy="755400"/>
          </a:xfrm>
          <a:prstGeom prst="roundRect">
            <a:avLst>
              <a:gd fmla="val 3750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Source Sans Pro"/>
                <a:ea typeface="Source Sans Pro"/>
                <a:cs typeface="Source Sans Pro"/>
                <a:sym typeface="Source Sans Pro"/>
              </a:rPr>
              <a:t>Planejamento de tarefa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8" name="Google Shape;98;p17"/>
          <p:cNvCxnSpPr>
            <a:endCxn id="94" idx="1"/>
          </p:cNvCxnSpPr>
          <p:nvPr/>
        </p:nvCxnSpPr>
        <p:spPr>
          <a:xfrm flipH="1" rot="10800000">
            <a:off x="1692600" y="3574500"/>
            <a:ext cx="366000" cy="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>
            <a:stCxn id="94" idx="3"/>
            <a:endCxn id="95" idx="1"/>
          </p:cNvCxnSpPr>
          <p:nvPr/>
        </p:nvCxnSpPr>
        <p:spPr>
          <a:xfrm flipH="1" rot="10800000">
            <a:off x="3424500" y="3574200"/>
            <a:ext cx="381000" cy="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7"/>
          <p:cNvCxnSpPr>
            <a:stCxn id="95" idx="3"/>
            <a:endCxn id="96" idx="1"/>
          </p:cNvCxnSpPr>
          <p:nvPr/>
        </p:nvCxnSpPr>
        <p:spPr>
          <a:xfrm>
            <a:off x="5171400" y="3574250"/>
            <a:ext cx="38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7"/>
          <p:cNvCxnSpPr>
            <a:stCxn id="96" idx="3"/>
            <a:endCxn id="97" idx="1"/>
          </p:cNvCxnSpPr>
          <p:nvPr/>
        </p:nvCxnSpPr>
        <p:spPr>
          <a:xfrm>
            <a:off x="6918300" y="3574250"/>
            <a:ext cx="38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7"/>
          <p:cNvCxnSpPr>
            <a:endCxn id="96" idx="0"/>
          </p:cNvCxnSpPr>
          <p:nvPr/>
        </p:nvCxnSpPr>
        <p:spPr>
          <a:xfrm rot="10800000">
            <a:off x="6235350" y="3196550"/>
            <a:ext cx="2446200" cy="384900"/>
          </a:xfrm>
          <a:prstGeom prst="bentConnector4">
            <a:avLst>
              <a:gd fmla="val -9797" name="adj1"/>
              <a:gd fmla="val 16186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pt-BR"/>
              <a:t>Planejamento Ágil - Exemplos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</a:rPr>
              <a:t>Programaç</a:t>
            </a:r>
            <a:r>
              <a:rPr b="1" lang="pt-BR">
                <a:solidFill>
                  <a:srgbClr val="000000"/>
                </a:solidFill>
              </a:rPr>
              <a:t>ão Extrema</a:t>
            </a:r>
            <a:endParaRPr b="1">
              <a:solidFill>
                <a:srgbClr val="000000"/>
              </a:solidFill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O </a:t>
            </a:r>
            <a:r>
              <a:rPr b="1" lang="pt-BR" sz="1600">
                <a:solidFill>
                  <a:srgbClr val="000000"/>
                </a:solidFill>
              </a:rPr>
              <a:t>planejamento de lançamento</a:t>
            </a:r>
            <a:r>
              <a:rPr lang="pt-BR" sz="1600">
                <a:solidFill>
                  <a:srgbClr val="000000"/>
                </a:solidFill>
              </a:rPr>
              <a:t> envolve </a:t>
            </a:r>
            <a:r>
              <a:rPr b="1" lang="pt-BR" sz="1600">
                <a:solidFill>
                  <a:srgbClr val="000000"/>
                </a:solidFill>
              </a:rPr>
              <a:t>escolher</a:t>
            </a:r>
            <a:r>
              <a:rPr lang="pt-BR" sz="1600">
                <a:solidFill>
                  <a:srgbClr val="000000"/>
                </a:solidFill>
              </a:rPr>
              <a:t> e </a:t>
            </a:r>
            <a:r>
              <a:rPr b="1" lang="pt-BR" sz="1600">
                <a:solidFill>
                  <a:srgbClr val="000000"/>
                </a:solidFill>
              </a:rPr>
              <a:t>refinar</a:t>
            </a:r>
            <a:r>
              <a:rPr lang="pt-BR" sz="1600">
                <a:solidFill>
                  <a:srgbClr val="000000"/>
                </a:solidFill>
              </a:rPr>
              <a:t> as </a:t>
            </a:r>
            <a:r>
              <a:rPr b="1" lang="pt-BR" sz="1600">
                <a:solidFill>
                  <a:srgbClr val="000000"/>
                </a:solidFill>
              </a:rPr>
              <a:t>histórias que refletirão as características a serem implementadas em um lançamento</a:t>
            </a:r>
            <a:r>
              <a:rPr lang="pt-BR" sz="1600">
                <a:solidFill>
                  <a:srgbClr val="000000"/>
                </a:solidFill>
              </a:rPr>
              <a:t> do sistema e a </a:t>
            </a:r>
            <a:r>
              <a:rPr b="1" lang="pt-BR" sz="1600">
                <a:solidFill>
                  <a:srgbClr val="000000"/>
                </a:solidFill>
              </a:rPr>
              <a:t>ordem em que as histórias devem ser implementadas</a:t>
            </a:r>
            <a:r>
              <a:rPr lang="pt-BR" sz="1600">
                <a:solidFill>
                  <a:srgbClr val="000000"/>
                </a:solidFill>
              </a:rPr>
              <a:t>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O </a:t>
            </a:r>
            <a:r>
              <a:rPr b="1" lang="pt-BR" sz="1600">
                <a:solidFill>
                  <a:srgbClr val="000000"/>
                </a:solidFill>
              </a:rPr>
              <a:t>planejamento da iteração</a:t>
            </a:r>
            <a:r>
              <a:rPr lang="pt-BR" sz="1600">
                <a:solidFill>
                  <a:srgbClr val="000000"/>
                </a:solidFill>
              </a:rPr>
              <a:t> é o </a:t>
            </a:r>
            <a:r>
              <a:rPr b="1" lang="pt-BR" sz="1600">
                <a:solidFill>
                  <a:srgbClr val="000000"/>
                </a:solidFill>
              </a:rPr>
              <a:t>primeiro estágio</a:t>
            </a:r>
            <a:r>
              <a:rPr lang="pt-BR" sz="1600">
                <a:solidFill>
                  <a:srgbClr val="000000"/>
                </a:solidFill>
              </a:rPr>
              <a:t> no desenvolvimento de um </a:t>
            </a:r>
            <a:r>
              <a:rPr b="1" lang="pt-BR" sz="1600">
                <a:solidFill>
                  <a:srgbClr val="000000"/>
                </a:solidFill>
              </a:rPr>
              <a:t>incremento de sistema entregável</a:t>
            </a:r>
            <a:r>
              <a:rPr lang="pt-BR" sz="1600">
                <a:solidFill>
                  <a:srgbClr val="000000"/>
                </a:solidFill>
              </a:rPr>
              <a:t>. As </a:t>
            </a:r>
            <a:r>
              <a:rPr b="1" lang="pt-BR" sz="1600">
                <a:solidFill>
                  <a:srgbClr val="000000"/>
                </a:solidFill>
              </a:rPr>
              <a:t>histórias</a:t>
            </a:r>
            <a:r>
              <a:rPr lang="pt-BR" sz="1600">
                <a:solidFill>
                  <a:srgbClr val="000000"/>
                </a:solidFill>
              </a:rPr>
              <a:t> a serem implementadas durante a iteração </a:t>
            </a:r>
            <a:r>
              <a:rPr b="1" lang="pt-BR" sz="1600">
                <a:solidFill>
                  <a:srgbClr val="000000"/>
                </a:solidFill>
              </a:rPr>
              <a:t>são escolhidas</a:t>
            </a:r>
            <a:r>
              <a:rPr lang="pt-BR" sz="1600">
                <a:solidFill>
                  <a:srgbClr val="000000"/>
                </a:solidFill>
              </a:rPr>
              <a:t>, sendo que o número de histórias reflete o tempo para entregar um sistema funcional (normalmente 2 ou 3 semanas) e a velocidade do time.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>
                <a:solidFill>
                  <a:schemeClr val="dk2"/>
                </a:solidFill>
              </a:rPr>
              <a:t>Lembrem-se: os grupos </a:t>
            </a:r>
            <a:r>
              <a:rPr b="1" lang="pt-BR">
                <a:solidFill>
                  <a:schemeClr val="dk2"/>
                </a:solidFill>
              </a:rPr>
              <a:t>terão de desenvolver o sistema que escolheram</a:t>
            </a:r>
            <a:r>
              <a:rPr lang="pt-BR">
                <a:solidFill>
                  <a:schemeClr val="dk2"/>
                </a:solidFill>
              </a:rPr>
              <a:t>!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>
                <a:solidFill>
                  <a:schemeClr val="dk2"/>
                </a:solidFill>
              </a:rPr>
              <a:t>Caso o grupo opte por um método de desenvolvimento ágil, a parte do planejamento deve ser adaptada de acordo com o método ágil em uso.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>
                <a:solidFill>
                  <a:schemeClr val="dk2"/>
                </a:solidFill>
              </a:rPr>
              <a:t>Encontrei o seguinte site com templates de documentos para o gerenciamento de projetos: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tempates</a:t>
            </a:r>
            <a:r>
              <a:rPr lang="pt-BR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230150" y="2310150"/>
            <a:ext cx="6837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chemeClr val="dk2"/>
                </a:solidFill>
              </a:rPr>
              <a:t>FIM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