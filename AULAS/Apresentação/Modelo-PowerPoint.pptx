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3C7127-F08B-4BA0-8B7A-3613836347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1E03C8-7D7D-4F92-BEE8-8F29367512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1D7E5D6-045F-46AB-A35C-185A127B9B88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5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562480" y="1690560"/>
            <a:ext cx="4955400" cy="727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ctr">
            <a:spAutoFit/>
          </a:bodyPr>
          <a:p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Gerência de Projetos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432520" y="2529360"/>
            <a:ext cx="5215320" cy="611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ctr">
            <a:spAutoFit/>
          </a:bodyPr>
          <a:p>
            <a:r>
              <a:rPr lang="pt-BR" sz="36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Apresentação da disciplina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4339800" y="72000"/>
            <a:ext cx="1400760" cy="160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"/>
          <p:cNvSpPr txBox="1"/>
          <p:nvPr/>
        </p:nvSpPr>
        <p:spPr>
          <a:xfrm>
            <a:off x="3849840" y="4368240"/>
            <a:ext cx="2380680" cy="437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ctr">
            <a:spAutoFit/>
          </a:bodyPr>
          <a:p>
            <a:r>
              <a:rPr lang="pt-BR" sz="24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Evandro J.R. Silva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0" y="-22320"/>
            <a:ext cx="10080000" cy="706320"/>
          </a:xfrm>
          <a:prstGeom prst="rect">
            <a:avLst/>
          </a:prstGeom>
          <a:solidFill>
            <a:srgbClr val="85182a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40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Sumário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0" y="684000"/>
            <a:ext cx="10080000" cy="49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85182a"/>
              </a:buClr>
              <a:buSzPct val="150000"/>
              <a:buFont typeface="OpenSymbol"/>
              <a:buChar char="•"/>
            </a:pPr>
            <a:r>
              <a:rPr lang="pt-BR" sz="22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Informações Gerais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6000" lvl="1" indent="-216000">
              <a:buClr>
                <a:srgbClr val="85182a"/>
              </a:buClr>
              <a:buSzPct val="80000"/>
              <a:buFont typeface="OpenSymbol"/>
              <a:buChar char="■"/>
            </a:pPr>
            <a:r>
              <a:rPr lang="pt-BR" sz="22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Ementa &amp; Objetivos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6000" lvl="1" indent="-216000">
              <a:buClr>
                <a:srgbClr val="85182a"/>
              </a:buClr>
              <a:buSzPct val="80000"/>
              <a:buFont typeface="OpenSymbol"/>
              <a:buChar char="■"/>
            </a:pPr>
            <a:r>
              <a:rPr lang="pt-BR" sz="22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Bibliografia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6000" lvl="1" indent="-216000">
              <a:buClr>
                <a:srgbClr val="85182a"/>
              </a:buClr>
              <a:buSzPct val="80000"/>
              <a:buFont typeface="OpenSymbol"/>
              <a:buChar char="■"/>
            </a:pPr>
            <a:r>
              <a:rPr lang="pt-BR" sz="22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Conteúdo programático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6000" lvl="1" indent="-216000">
              <a:buClr>
                <a:srgbClr val="85182a"/>
              </a:buClr>
              <a:buSzPct val="80000"/>
              <a:buFont typeface="OpenSymbol"/>
              <a:buChar char="■"/>
            </a:pPr>
            <a:r>
              <a:rPr lang="pt-BR" sz="22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Avaliação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6000" lvl="1" indent="-216000">
              <a:buClr>
                <a:srgbClr val="85182a"/>
              </a:buClr>
              <a:buSzPct val="80000"/>
              <a:buFont typeface="OpenSymbol"/>
              <a:buChar char="■"/>
            </a:pPr>
            <a:r>
              <a:rPr lang="pt-BR" sz="22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Calendário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0" y="697680"/>
            <a:ext cx="10080000" cy="706320"/>
          </a:xfrm>
          <a:prstGeom prst="rect">
            <a:avLst/>
          </a:prstGeom>
          <a:solidFill>
            <a:srgbClr val="85182a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40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Ementa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0" y="-22320"/>
            <a:ext cx="10080000" cy="382320"/>
          </a:xfrm>
          <a:prstGeom prst="rect">
            <a:avLst/>
          </a:prstGeom>
          <a:solidFill>
            <a:srgbClr val="85182a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Informações gerais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0" y="324000"/>
            <a:ext cx="10080000" cy="382320"/>
          </a:xfrm>
          <a:prstGeom prst="rect">
            <a:avLst/>
          </a:prstGeom>
          <a:solidFill>
            <a:srgbClr val="a11d33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	</a:t>
            </a: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Ementas &amp; Objetivos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0" y="1440000"/>
            <a:ext cx="10080000" cy="423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Definição, por que gerência de projetos?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Ciclo de vida de projetos, peculiaridades do projeto de software, objetivos gerais do gerenciamento de projetos, equipe de projeto, o papel do gerente, estrutura organizacional voltada a projetos.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Planejamento estratégico: seleção de projetos, plano de negócios.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Planejamento técnico: ciclo de vida e processos de desenvolvimento de software (revisão), tipos e métodos de planejamento, análise de riscos.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432000" lvl="1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SzPct val="90000"/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Estimativas: custo, tempo, recursos, tamanho e complexidade.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PMBOK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0" y="697680"/>
            <a:ext cx="10080000" cy="706320"/>
          </a:xfrm>
          <a:prstGeom prst="rect">
            <a:avLst/>
          </a:prstGeom>
          <a:solidFill>
            <a:srgbClr val="85182a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40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Objetivos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0" y="-22320"/>
            <a:ext cx="10080000" cy="382320"/>
          </a:xfrm>
          <a:prstGeom prst="rect">
            <a:avLst/>
          </a:prstGeom>
          <a:solidFill>
            <a:srgbClr val="85182a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Informações gerais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0" y="324000"/>
            <a:ext cx="10080000" cy="382320"/>
          </a:xfrm>
          <a:prstGeom prst="rect">
            <a:avLst/>
          </a:prstGeom>
          <a:solidFill>
            <a:srgbClr val="a11d33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	</a:t>
            </a: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Ementas &amp; Objetivos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0" y="1440000"/>
            <a:ext cx="10080000" cy="423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Apresentar os conceitos básicos, terminologia, papéis e a importância da disciplina no contexto organizacional.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Introduzir os processos de planejamento estratégico e técnico, com foco em estimativas e análise de riscos.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Compreender os grupos de processos e áreas do conhecimento do PMBOK, aplicando-os em exercícios práticos e simulações.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0" y="697680"/>
            <a:ext cx="10080000" cy="706320"/>
          </a:xfrm>
          <a:prstGeom prst="rect">
            <a:avLst/>
          </a:prstGeom>
          <a:solidFill>
            <a:srgbClr val="85182a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40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Bibliografia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0" y="-22320"/>
            <a:ext cx="10080000" cy="382320"/>
          </a:xfrm>
          <a:prstGeom prst="rect">
            <a:avLst/>
          </a:prstGeom>
          <a:solidFill>
            <a:srgbClr val="85182a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Informações gerais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0" y="324000"/>
            <a:ext cx="10080000" cy="382320"/>
          </a:xfrm>
          <a:prstGeom prst="rect">
            <a:avLst/>
          </a:prstGeom>
          <a:solidFill>
            <a:srgbClr val="a11d33"/>
          </a:solidFill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	</a:t>
            </a: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Bibliografia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0" y="1440000"/>
            <a:ext cx="10080000" cy="423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1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Básica – PPC</a:t>
            </a:r>
            <a:endParaRPr lang="pt-BR" sz="1800" b="1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432000" lvl="1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SzPct val="90000"/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Project Management Institute. </a:t>
            </a:r>
            <a:r>
              <a:rPr lang="pt-BR" sz="1800" b="1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PMBOK – Um guia do conhecimento em Gerenciamento de Projetos.</a:t>
            </a: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 4 ed. São Paulo: Saraiva, 2012.</a:t>
            </a:r>
            <a:endParaRPr lang="pt-BR" sz="1800" b="1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432000" lvl="1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SzPct val="90000"/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DINSMORE, P. </a:t>
            </a:r>
            <a:r>
              <a:rPr lang="pt-BR" sz="1800" b="1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Como se Tornar um Profissional em Gerenciamento de Projetos</a:t>
            </a: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. Porto Alegre: Qualitymark, 2003.</a:t>
            </a:r>
            <a:endParaRPr lang="pt-BR" sz="1800" b="1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Font typeface="OpenSymbol"/>
              <a:buChar char="▪"/>
            </a:pPr>
            <a:r>
              <a:rPr lang="pt-BR" sz="1800" b="1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Complementar – PPC</a:t>
            </a:r>
            <a:endParaRPr lang="pt-BR" sz="1800" b="1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432000" lvl="1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85182a"/>
              </a:buClr>
              <a:buSzPct val="90000"/>
              <a:buFont typeface="OpenSymbol"/>
              <a:buChar char="▪"/>
            </a:pPr>
            <a:r>
              <a:rPr lang="pt-BR" sz="1800" b="0" u="none" strike="noStrike">
                <a:solidFill>
                  <a:srgbClr val="85182a"/>
                </a:solidFill>
                <a:effectLst/>
                <a:uFillTx/>
                <a:latin typeface="Libertinus Sans"/>
              </a:rPr>
              <a:t>Um livro qualquer.</a:t>
            </a:r>
            <a:endParaRPr lang="pt-BR" sz="1800" b="1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5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 txBox="1"/>
          <p:nvPr/>
        </p:nvSpPr>
        <p:spPr>
          <a:xfrm>
            <a:off x="4478760" y="2471400"/>
            <a:ext cx="1122480" cy="727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ctr">
            <a:spAutoFit/>
          </a:bodyPr>
          <a:p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Libertinus Sans"/>
              </a:rPr>
              <a:t>FIM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Libertinus Sans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4339800" y="3739320"/>
            <a:ext cx="1400760" cy="160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LibreOffice/25.8.4.2$Linux_X86_64 LibreOffice_project/0366609b1de41a39e1896ae41e33c673f2a73802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2026-01-12T17:32:45Z</dcterms:created>
  <dc:creator/>
  <dc:description/>
  <dc:language>pt-BR</dc:language>
  <cp:lastModifiedBy/>
  <dcterms:modified xsi:type="dcterms:W3CDTF">2026-01-12T18:15:15Z</dcterms:modified>
  <cp:revision>2</cp:revision>
  <dc:subject/>
  <dc:title/>
</cp:coreProperties>
</file>